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88368" y="0"/>
            <a:ext cx="73152" cy="6858000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822960"/>
            <a:ext cx="9418320" cy="5212080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0" y="128016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🎮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83FD"/>
                </a:solidFill>
              </a:rPr>
              <a:t>Video Game Sales &amp;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71600" y="297180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Engagement Analysis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371600" y="370332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CC"/>
                </a:solidFill>
              </a:rPr>
              <a:t>EDA  •  Streamlit Dashboard  •  Insights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4206240"/>
            <a:ext cx="16459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42245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83FD"/>
                </a:solidFill>
              </a:rPr>
              <a:t>1,099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28600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Games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97680" y="4206240"/>
            <a:ext cx="16459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42245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83FD"/>
                </a:solidFill>
              </a:rPr>
              <a:t>16,593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9768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Sales Records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09360" y="4206240"/>
            <a:ext cx="16459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2245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83FD"/>
                </a:solidFill>
              </a:rPr>
              <a:t>31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936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Platforms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321040" y="4206240"/>
            <a:ext cx="16459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2245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83FD"/>
                </a:solidFill>
              </a:rPr>
              <a:t>19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2104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Genres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0" y="6419088"/>
            <a:ext cx="1216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Data Analytics Project  |  Python • SQL • Streamlit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2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AGENDA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What we built and what this presentation covers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548640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600200"/>
            <a:ext cx="45720" cy="1234440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0020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475488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 Overview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168042"/>
            <a:ext cx="47548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2 datasets: game metadata (1,099) + sales data (16,593 records)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0760" y="1600200"/>
            <a:ext cx="548640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600200"/>
            <a:ext cx="45720" cy="1234440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60020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20840" y="1691640"/>
            <a:ext cx="475488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Cleaning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2168042"/>
            <a:ext cx="47548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Removed duplicates, handled nulls, standardized columns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017520"/>
            <a:ext cx="548640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017520"/>
            <a:ext cx="45720" cy="1234440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108960"/>
            <a:ext cx="475488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Exploratory Data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585362"/>
            <a:ext cx="47548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15 charts across ratings, sales, genres, platforms &amp; trends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80760" y="3017520"/>
            <a:ext cx="548640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3017520"/>
            <a:ext cx="45720" cy="1234440"/>
          </a:xfrm>
          <a:prstGeom prst="rect">
            <a:avLst/>
          </a:prstGeom>
          <a:solidFill>
            <a:srgbClr val="FD7C7C"/>
          </a:solidFill>
          <a:ln w="12700">
            <a:solidFill>
              <a:srgbClr val="FD7C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01752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20840" y="3108960"/>
            <a:ext cx="475488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Sales Analysis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20840" y="3585362"/>
            <a:ext cx="47548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Regional breakdown: NA leads at 49%, followed by EU at 27%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4434840"/>
            <a:ext cx="548640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FDA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4434840"/>
            <a:ext cx="45720" cy="1234440"/>
          </a:xfrm>
          <a:prstGeom prst="rect">
            <a:avLst/>
          </a:prstGeom>
          <a:solidFill>
            <a:srgbClr val="FDAA7C"/>
          </a:solidFill>
          <a:ln w="12700">
            <a:solidFill>
              <a:srgbClr val="FDAA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43484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51560" y="4526280"/>
            <a:ext cx="475488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 Dashboard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5002682"/>
            <a:ext cx="47548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7-page interactive app with dark gaming theme &amp; live filters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80760" y="4434840"/>
            <a:ext cx="548640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4434840"/>
            <a:ext cx="45720" cy="1234440"/>
          </a:xfrm>
          <a:prstGeom prst="rect">
            <a:avLst/>
          </a:prstGeom>
          <a:solidFill>
            <a:srgbClr val="FD7CF0"/>
          </a:solidFill>
          <a:ln w="12700">
            <a:solidFill>
              <a:srgbClr val="FD7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443484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720840" y="4526280"/>
            <a:ext cx="475488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Findings &amp; Conclusion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20840" y="5002682"/>
            <a:ext cx="47548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Top genres, best platforms, engagement vs sales correlation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3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DATASET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Two datasets merged for comprehensive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39496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572768"/>
            <a:ext cx="5394960" cy="384048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</a:rPr>
              <a:t>📁  games.csv — Engagement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011680"/>
            <a:ext cx="5212080" cy="4937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66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Rows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2066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1,099 games (after cleaning)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542032"/>
            <a:ext cx="5212080" cy="493776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968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Columns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25968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19 columns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072384"/>
            <a:ext cx="5212080" cy="4937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Key Fields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Rating, Plays, Wishlist, Backlogs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602736"/>
            <a:ext cx="5212080" cy="493776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Genres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19 unique genres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4133088"/>
            <a:ext cx="5212080" cy="4937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87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Developers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0" y="4187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466 unique studios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663440"/>
            <a:ext cx="5212080" cy="493776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7183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Year Range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4718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Pre-2000 to 2024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55080" y="1572768"/>
            <a:ext cx="539496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1572768"/>
            <a:ext cx="5394960" cy="384048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</a:rPr>
              <a:t>💰  vgsales.csv — Sales Data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2011680"/>
            <a:ext cx="5212080" cy="4937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066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Rows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2066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16,593 records (after cleaning)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46520" y="2542032"/>
            <a:ext cx="5212080" cy="493776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25968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Columns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25968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13 columns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46520" y="3072384"/>
            <a:ext cx="5212080" cy="4937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Key Fields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NA/EU/JP/Global Sales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46520" y="3602736"/>
            <a:ext cx="5212080" cy="493776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Platforms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296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31 platforms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46520" y="4133088"/>
            <a:ext cx="5212080" cy="4937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4187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Publishers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187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577 publishers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46520" y="4663440"/>
            <a:ext cx="5212080" cy="493776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47183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CC"/>
                </a:solidFill>
              </a:rPr>
              <a:t>Year Range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0" y="4718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1980 to 2020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480560" y="3383280"/>
            <a:ext cx="3200400" cy="548640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480560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1A"/>
                </a:solidFill>
              </a:rPr>
              <a:t>🔗  469 Games Matched in Merged Dataset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4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EDA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User Rating Distribution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How games are rated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777240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/home/claude/charts/chart01_rating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64208"/>
            <a:ext cx="7589520" cy="3931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366760" y="1572768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6676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83FD"/>
                </a:solidFill>
              </a:rPr>
              <a:t>3.65 / 5.0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366760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Avg Rating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366760" y="2615184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66760" y="26883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FDCB"/>
                </a:solidFill>
              </a:rPr>
              <a:t>3.60 / 5.0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6676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Median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366760" y="3657600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66760" y="3730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D97C"/>
                </a:solidFill>
              </a:rPr>
              <a:t>34.2%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High Rated (4+)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366760" y="4700016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366760" y="4773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7C7C"/>
                </a:solidFill>
              </a:rPr>
              <a:t>18.5%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366760" y="5248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Low Rated (&lt;3)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5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EDA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Rated &amp; Most Played Games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Games that users love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57784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664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⭐ Top 10 Highest Rated</a:t>
            </a:r>
            <a:endParaRPr lang="en-US" sz="950" dirty="0"/>
          </a:p>
        </p:txBody>
      </p:sp>
      <p:pic>
        <p:nvPicPr>
          <p:cNvPr id="12" name="Image 0" descr="/home/claude/charts/chart02_top_r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5394960" cy="36758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72200" y="1572768"/>
            <a:ext cx="557784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1664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🎮 Top 10 Most Played</a:t>
            </a:r>
            <a:endParaRPr lang="en-US" sz="950" dirty="0"/>
          </a:p>
        </p:txBody>
      </p:sp>
      <p:pic>
        <p:nvPicPr>
          <p:cNvPr id="15" name="Image 1" descr="/home/claude/charts/chart05_top_play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20240"/>
            <a:ext cx="5394960" cy="3675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6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EDA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Wishlist &amp; Genre Analysis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What players want to 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57784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664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💫 Top 10 Wishlisted</a:t>
            </a:r>
            <a:endParaRPr lang="en-US" sz="950" dirty="0"/>
          </a:p>
        </p:txBody>
      </p:sp>
      <p:pic>
        <p:nvPicPr>
          <p:cNvPr id="12" name="Image 0" descr="/home/claude/charts/chart06_top_wishlis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5394960" cy="36758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72200" y="1572768"/>
            <a:ext cx="557784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1664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🧩 Genre Distribution</a:t>
            </a:r>
            <a:endParaRPr lang="en-US" sz="950" dirty="0"/>
          </a:p>
        </p:txBody>
      </p:sp>
      <p:pic>
        <p:nvPicPr>
          <p:cNvPr id="15" name="Image 1" descr="/home/claude/charts/chart03_genre_d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20240"/>
            <a:ext cx="5394960" cy="3675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7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EDA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Genre Deep Dive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Ratings and engagement by genre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57784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664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⭐ Avg Rating by Genre</a:t>
            </a:r>
            <a:endParaRPr lang="en-US" sz="950" dirty="0"/>
          </a:p>
        </p:txBody>
      </p:sp>
      <p:pic>
        <p:nvPicPr>
          <p:cNvPr id="12" name="Image 0" descr="/home/claude/charts/chart04_rating_by_gen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5394960" cy="36758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72200" y="1572768"/>
            <a:ext cx="557784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1664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🔥 Engagement Heatmap</a:t>
            </a:r>
            <a:endParaRPr lang="en-US" sz="950" dirty="0"/>
          </a:p>
        </p:txBody>
      </p:sp>
      <p:pic>
        <p:nvPicPr>
          <p:cNvPr id="15" name="Image 1" descr="/home/claude/charts/chart14_engagement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20240"/>
            <a:ext cx="5394960" cy="3675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9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FD7C7C"/>
          </a:solidFill>
          <a:ln w="12700">
            <a:solidFill>
              <a:srgbClr val="FD7C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SALES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Best-Selling Games &amp; Genre Revenue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Global blockbusters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57784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664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🏆 Top 10 Best-Sellers</a:t>
            </a:r>
            <a:endParaRPr lang="en-US" sz="950" dirty="0"/>
          </a:p>
        </p:txBody>
      </p:sp>
      <p:pic>
        <p:nvPicPr>
          <p:cNvPr id="12" name="Image 0" descr="/home/claude/charts/chart08_top_sell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5394960" cy="36758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72200" y="1572768"/>
            <a:ext cx="557784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1664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📊 Sales by Genre</a:t>
            </a:r>
            <a:endParaRPr lang="en-US" sz="950" dirty="0"/>
          </a:p>
        </p:txBody>
      </p:sp>
      <p:pic>
        <p:nvPicPr>
          <p:cNvPr id="15" name="Image 1" descr="/home/claude/charts/chart12_genre_sa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20240"/>
            <a:ext cx="5394960" cy="3675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8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FD7C7C"/>
          </a:solidFill>
          <a:ln w="12700">
            <a:solidFill>
              <a:srgbClr val="FD7C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SALES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Regional Sales Analysis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Which part of the world spends the most on games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02920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🌍 Global Market Share</a:t>
            </a:r>
            <a:endParaRPr lang="en-US" sz="950" dirty="0"/>
          </a:p>
        </p:txBody>
      </p:sp>
      <p:pic>
        <p:nvPicPr>
          <p:cNvPr id="12" name="Image 0" descr="/home/claude/charts/chart07_regional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4846320" cy="36758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0" y="1572768"/>
            <a:ext cx="608076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1572768"/>
            <a:ext cx="54864" cy="950976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1664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🇺🇸 North America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4,392M units sold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32688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3FD"/>
                </a:solidFill>
              </a:rPr>
              <a:t>49.2%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5669280" y="2615184"/>
            <a:ext cx="608076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669280" y="2615184"/>
            <a:ext cx="54864" cy="950976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27066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🇪🇺 Europe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06440" y="3072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2,415M units sold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326880" y="270662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FDCB"/>
                </a:solidFill>
              </a:rPr>
              <a:t>27.1%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5669280" y="3657600"/>
            <a:ext cx="608076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69280" y="3657600"/>
            <a:ext cx="54864" cy="950976"/>
          </a:xfrm>
          <a:prstGeom prst="rect">
            <a:avLst/>
          </a:prstGeom>
          <a:solidFill>
            <a:srgbClr val="FD7C7C"/>
          </a:solidFill>
          <a:ln w="12700">
            <a:solidFill>
              <a:srgbClr val="FD7C7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3749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🇯🇵 Japan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064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1,301M units sold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3268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D7C7C"/>
                </a:solidFill>
              </a:rPr>
              <a:t>14.6%</a:t>
            </a:r>
            <a:endParaRPr lang="en-US" sz="2600" dirty="0"/>
          </a:p>
        </p:txBody>
      </p:sp>
      <p:sp>
        <p:nvSpPr>
          <p:cNvPr id="28" name="Shape 25"/>
          <p:cNvSpPr/>
          <p:nvPr/>
        </p:nvSpPr>
        <p:spPr>
          <a:xfrm>
            <a:off x="5669280" y="4700016"/>
            <a:ext cx="608076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69280" y="4700016"/>
            <a:ext cx="54864" cy="950976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4791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Rest of World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806440" y="5157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802M units sold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326880" y="479145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DD97C"/>
                </a:solidFill>
              </a:rPr>
              <a:t>9.0%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10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7CCFFD"/>
          </a:solidFill>
          <a:ln w="12700">
            <a:solidFill>
              <a:srgbClr val="7CCF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Platform Sales Analysis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Which platforms dominate the global market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777240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/home/claude/charts/chart09_platform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64208"/>
            <a:ext cx="7589520" cy="3931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366760" y="1572768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667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83FD"/>
                </a:solidFill>
              </a:rPr>
              <a:t>PS2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366760" y="2011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#1 Platform  ·  1,255M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366760" y="2615184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66760" y="2670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FDCB"/>
                </a:solidFill>
              </a:rPr>
              <a:t>PS3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66760" y="30540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3rd Place  ·  957M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366760" y="3657600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66760" y="3712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D97C"/>
                </a:solidFill>
              </a:rPr>
              <a:t>X360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366760" y="4096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Top Xbox  ·  979M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366760" y="4700016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FDA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36676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AA7C"/>
                </a:solidFill>
              </a:rPr>
              <a:t>Wii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366760" y="51389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Nintendo Lead  ·  926M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11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FDAA7C"/>
          </a:solidFill>
          <a:ln w="12700">
            <a:solidFill>
              <a:srgbClr val="FDA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PUBLISHER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Publishers by Global Sales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Who dominates the publishing industry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777240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/home/claude/charts/chart13_publisher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64208"/>
            <a:ext cx="7589520" cy="3931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366760" y="1572768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667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83FD"/>
                </a:solidFill>
              </a:rPr>
              <a:t>Nintendo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366760" y="2011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#1 Publisher  ·  1,786M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366760" y="2615184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66760" y="2670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FDCB"/>
                </a:solidFill>
              </a:rPr>
              <a:t>EA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366760" y="30540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#2 Publisher  ·  1,110M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366760" y="3657600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66760" y="3712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DD97C"/>
                </a:solidFill>
              </a:rPr>
              <a:t>Activision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366760" y="4096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#3 Publisher  ·  727M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366760" y="4700016"/>
            <a:ext cx="338328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36676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D7C7C"/>
                </a:solidFill>
              </a:rPr>
              <a:t>Sony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366760" y="51389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#4 Publisher  ·  607M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12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TRENDS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Sales Trends Over Time (1995–2016)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How the gaming market grew and declined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577840" cy="18745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664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📈 Global Sales per Year</a:t>
            </a:r>
            <a:endParaRPr lang="en-US" sz="950" dirty="0"/>
          </a:p>
        </p:txBody>
      </p:sp>
      <p:pic>
        <p:nvPicPr>
          <p:cNvPr id="12" name="Image 0" descr="/home/claude/charts/chart10_year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5394960" cy="14356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72200" y="1572768"/>
            <a:ext cx="5577840" cy="18745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1664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🌍 Regional Sales Trends</a:t>
            </a:r>
            <a:endParaRPr lang="en-US" sz="950" dirty="0"/>
          </a:p>
        </p:txBody>
      </p:sp>
      <p:pic>
        <p:nvPicPr>
          <p:cNvPr id="15" name="Image 1" descr="/home/claude/charts/chart11_regional_tr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20240"/>
            <a:ext cx="5394960" cy="14356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11480" y="3611880"/>
            <a:ext cx="2834640" cy="207568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1148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1148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3FD"/>
                </a:solidFill>
              </a:rPr>
              <a:t>2009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11480" y="4462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Peak Year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02920" y="47365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Market hit 684M units in 2009 — all-time high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346704" y="3611880"/>
            <a:ext cx="2834640" cy="207568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346704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3346704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3FD"/>
                </a:solidFill>
              </a:rPr>
              <a:t>2009+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346704" y="4462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Decline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438144" y="47365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Mobile gaming rise caused post-2009 market decline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6281928" y="3611880"/>
            <a:ext cx="2834640" cy="207568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281928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6281928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3FD"/>
                </a:solidFill>
              </a:rPr>
              <a:t>2001–2009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281928" y="4462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Golden Era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73368" y="47365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8-year growth driven by PS2, Wii, DS, and Xbox 360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9217152" y="3611880"/>
            <a:ext cx="2834640" cy="207568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9217152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9217152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3FD"/>
                </a:solidFill>
              </a:rPr>
              <a:t>NA Dominance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9217152" y="4462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49%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9308592" y="47365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North America consistently the #1 region every year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13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FD7CF0"/>
          </a:solidFill>
          <a:ln w="12700">
            <a:solidFill>
              <a:srgbClr val="FD7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MERGED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Engagement vs Sales Insights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When ratings and sales data are combined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57784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664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CCFF"/>
                </a:solidFill>
              </a:rPr>
              <a:t>🎯 Rating vs Global Sales (log scale)</a:t>
            </a:r>
            <a:endParaRPr lang="en-US" sz="950" dirty="0"/>
          </a:p>
        </p:txBody>
      </p:sp>
      <p:pic>
        <p:nvPicPr>
          <p:cNvPr id="12" name="Image 0" descr="/home/claude/charts/chart15_rating_vs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5394960" cy="36758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72200" y="1572768"/>
            <a:ext cx="557784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572768"/>
            <a:ext cx="45720" cy="950976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572768"/>
            <a:ext cx="594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03720" y="1664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Weak Correlation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903720" y="202996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High rating ≠ high sales. Many 4.4+ rated games sell &lt;1M units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72200" y="2615184"/>
            <a:ext cx="557784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72200" y="2615184"/>
            <a:ext cx="45720" cy="950976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63640" y="2615184"/>
            <a:ext cx="594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903720" y="27066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Engagement Leaders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03720" y="307238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Adventure &amp; RPG genres have highest plays despite lower avg sales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172200" y="3657600"/>
            <a:ext cx="557784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72200" y="3657600"/>
            <a:ext cx="45720" cy="950976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63640" y="3657600"/>
            <a:ext cx="594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903720" y="3749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Wishlist Effect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903720" y="411480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Games with 5K+ wishlist entries have 3x higher avg sales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172200" y="4700016"/>
            <a:ext cx="5577840" cy="950976"/>
          </a:xfrm>
          <a:prstGeom prst="rect">
            <a:avLst/>
          </a:prstGeom>
          <a:solidFill>
            <a:srgbClr val="1A1A2E"/>
          </a:solidFill>
          <a:ln w="12700">
            <a:solidFill>
              <a:srgbClr val="FDA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72200" y="4700016"/>
            <a:ext cx="45720" cy="950976"/>
          </a:xfrm>
          <a:prstGeom prst="rect">
            <a:avLst/>
          </a:prstGeom>
          <a:solidFill>
            <a:srgbClr val="FDAA7C"/>
          </a:solidFill>
          <a:ln w="12700">
            <a:solidFill>
              <a:srgbClr val="FDAA7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63640" y="4700016"/>
            <a:ext cx="594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903720" y="47914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Sweet Spot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903720" y="515721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Ratings 3.8–4.2 + Adventure genre shows best commercial performance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14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STREAMLIT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Streamlit Interactive Dashboard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A 7-page dark-themed web app built with Python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11338560" cy="530352"/>
          </a:xfrm>
          <a:prstGeom prst="rect">
            <a:avLst/>
          </a:prstGeom>
          <a:solidFill>
            <a:srgbClr val="16213E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72768"/>
            <a:ext cx="11338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F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🚀  streamlit run app.py  →  Open http://localhost:8501 in your browser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267712"/>
            <a:ext cx="580644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267712"/>
            <a:ext cx="45720" cy="987552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408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🏠  Page 1: Overview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72491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KPI cards, top games by plays &amp; sales, genre + regional pie charts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346704"/>
            <a:ext cx="580644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346704"/>
            <a:ext cx="45720" cy="987552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198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⭐  Page 2: Ratings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0390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Histogram, box plots by genre, scatter (plays vs wishlist), heatmap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4425696"/>
            <a:ext cx="580644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425696"/>
            <a:ext cx="45720" cy="987552"/>
          </a:xfrm>
          <a:prstGeom prst="rect">
            <a:avLst/>
          </a:prstGeom>
          <a:solidFill>
            <a:srgbClr val="FD7C7C"/>
          </a:solidFill>
          <a:ln w="12700">
            <a:solidFill>
              <a:srgbClr val="FD7C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9884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💰  Page 3: Sales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882896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Regional market share, top sellers, stacked regional breakdown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5504688"/>
            <a:ext cx="580644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5504688"/>
            <a:ext cx="45720" cy="987552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5778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🧩  Page 4: Genre Analysis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596188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Genre counts, avg rating, market share, radar engagement chart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267712"/>
            <a:ext cx="530352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7CCF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2267712"/>
            <a:ext cx="45720" cy="987552"/>
          </a:xfrm>
          <a:prstGeom prst="rect">
            <a:avLst/>
          </a:prstGeom>
          <a:solidFill>
            <a:srgbClr val="7CCFFD"/>
          </a:solidFill>
          <a:ln w="12700">
            <a:solidFill>
              <a:srgbClr val="7CCF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340864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🕹️  Page 5: Platform &amp; Pub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2724912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Platform sales, regional stacked bars, publisher efficiency scatter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0" y="3346704"/>
            <a:ext cx="530352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FDA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3346704"/>
            <a:ext cx="45720" cy="987552"/>
          </a:xfrm>
          <a:prstGeom prst="rect">
            <a:avLst/>
          </a:prstGeom>
          <a:solidFill>
            <a:srgbClr val="FDAA7C"/>
          </a:solidFill>
          <a:ln w="12700">
            <a:solidFill>
              <a:srgbClr val="FDAA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419856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📅  Page 6: Yearly Trends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3803904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Area charts, regional lines, decade heatmap by genre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0" y="4425696"/>
            <a:ext cx="530352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4425696"/>
            <a:ext cx="45720" cy="987552"/>
          </a:xfrm>
          <a:prstGeom prst="rect">
            <a:avLst/>
          </a:prstGeom>
          <a:solidFill>
            <a:srgbClr val="FD7CF0"/>
          </a:solidFill>
          <a:ln w="12700">
            <a:solidFill>
              <a:srgbClr val="FD7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49884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🔍  Page 7: Game Explorer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37960" y="4882896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Search + filter table, game deep dive with sales by platform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15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FEATURES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Features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What makes this dashboard special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7150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572768"/>
            <a:ext cx="45720" cy="1097280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72768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166420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Dark Gaming Theme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0299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Custom CSS: #0f0f1a background, #7c83fd accent, glassmorphism card style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0" y="1572768"/>
            <a:ext cx="57150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572768"/>
            <a:ext cx="45720" cy="1097280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72768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0" y="166420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Sidebar Filters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20299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Genre multi-select + Year slider — all charts update instantly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2779776"/>
            <a:ext cx="57150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779776"/>
            <a:ext cx="45720" cy="1097280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79776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287121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Plotly Interactive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" y="323697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Every chart has hover tooltips, zoom, pan, download as PNG built-in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2779776"/>
            <a:ext cx="57150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2779776"/>
            <a:ext cx="45720" cy="1097280"/>
          </a:xfrm>
          <a:prstGeom prst="rect">
            <a:avLst/>
          </a:prstGeom>
          <a:solidFill>
            <a:srgbClr val="FD7C7C"/>
          </a:solidFill>
          <a:ln w="12700">
            <a:solidFill>
              <a:srgbClr val="FD7C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779776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287121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Game Explorer Page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323697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Search any game, filter by genre, sort by any metric — deep dive view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" y="3986784"/>
            <a:ext cx="57150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FDA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986784"/>
            <a:ext cx="45720" cy="1097280"/>
          </a:xfrm>
          <a:prstGeom prst="rect">
            <a:avLst/>
          </a:prstGeom>
          <a:solidFill>
            <a:srgbClr val="FDAA7C"/>
          </a:solidFill>
          <a:ln w="12700">
            <a:solidFill>
              <a:srgbClr val="FDAA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86784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3000" y="407822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30+ Visualizations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44439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Bar, scatter, pie, box, histogram, heatmap, area, radar across 7 pages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3986784"/>
            <a:ext cx="57150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3986784"/>
            <a:ext cx="45720" cy="1097280"/>
          </a:xfrm>
          <a:prstGeom prst="rect">
            <a:avLst/>
          </a:prstGeom>
          <a:solidFill>
            <a:srgbClr val="FD7CF0"/>
          </a:solidFill>
          <a:ln w="12700">
            <a:solidFill>
              <a:srgbClr val="FD7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986784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32320" y="407822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Radar Chart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44439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Genre radar compares selected genre vs overall average on 5 dimensions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5193792"/>
            <a:ext cx="57150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7CCF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" y="5193792"/>
            <a:ext cx="45720" cy="1097280"/>
          </a:xfrm>
          <a:prstGeom prst="rect">
            <a:avLst/>
          </a:prstGeom>
          <a:solidFill>
            <a:srgbClr val="7CCFFD"/>
          </a:solidFill>
          <a:ln w="12700">
            <a:solidFill>
              <a:srgbClr val="7CCF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193792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143000" y="52852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Dual Dataset Support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" y="565099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Separate analysis for games, vgsales, and merged data — all in one app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00800" y="5193792"/>
            <a:ext cx="57150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00800" y="5193792"/>
            <a:ext cx="45720" cy="1097280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5193792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132320" y="52852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Cached Loading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32320" y="565099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@st.cache_data ensures instant page switching without re-loading CSVs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16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SETUP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to Run the Dashboard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Step-by-step terminal setup guide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11338560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536192"/>
            <a:ext cx="658368" cy="886968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36192"/>
            <a:ext cx="6583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A"/>
                </a:solidFill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0432" y="16002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Install Dependencies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70432" y="20208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Open terminal / command prompt and run this command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676656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64592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F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streamlit pandas plotly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514600"/>
            <a:ext cx="11338560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514600"/>
            <a:ext cx="658368" cy="886968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514600"/>
            <a:ext cx="6583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A"/>
                </a:solidFill>
              </a:rPr>
              <a:t>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2578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Set Up Folder Structure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70432" y="29992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Make sure app.py and cleaned_data folder are in the same directory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2624328"/>
            <a:ext cx="676656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624328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F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project/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F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app.py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F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cleaned_data/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F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cleaned_games.csv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F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cleaned_vgsales.csv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F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merged_data.csv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493008"/>
            <a:ext cx="11338560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493008"/>
            <a:ext cx="658368" cy="886968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493008"/>
            <a:ext cx="6583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A"/>
                </a:solidFill>
              </a:rPr>
              <a:t>03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70432" y="35570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Navigate to Project Folder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70432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In terminal, go to the folder containing app.py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3602736"/>
            <a:ext cx="676656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FDD9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602736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F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Desktop/VideoGame_Analysis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471416"/>
            <a:ext cx="11338560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4471416"/>
            <a:ext cx="658368" cy="886968"/>
          </a:xfrm>
          <a:prstGeom prst="rect">
            <a:avLst/>
          </a:prstGeom>
          <a:solidFill>
            <a:srgbClr val="FD7C7C"/>
          </a:solidFill>
          <a:ln w="12700">
            <a:solidFill>
              <a:srgbClr val="FD7C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471416"/>
            <a:ext cx="6583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A"/>
                </a:solidFill>
              </a:rPr>
              <a:t>04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70432" y="4535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Run the Dashboard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70432" y="4956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This is the main command — Streamlit starts the server automatically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4581144"/>
            <a:ext cx="676656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FD7C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4581144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F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streamlit run app.py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5449824"/>
            <a:ext cx="11338560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FDA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" y="5449824"/>
            <a:ext cx="658368" cy="886968"/>
          </a:xfrm>
          <a:prstGeom prst="rect">
            <a:avLst/>
          </a:prstGeom>
          <a:solidFill>
            <a:srgbClr val="FDAA7C"/>
          </a:solidFill>
          <a:ln w="12700">
            <a:solidFill>
              <a:srgbClr val="FDAA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5449824"/>
            <a:ext cx="6583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A"/>
                </a:solidFill>
              </a:rPr>
              <a:t>05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170432" y="55138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 in Browser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70432" y="5934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</a:rPr>
              <a:t>Browser opens automatically — or manually go to this URL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46320" y="5559552"/>
            <a:ext cx="676656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FDAA7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5559552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F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http://localhost:8501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17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FINDINGS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Findings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What the data tells us about the gaming industry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66928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572768"/>
            <a:ext cx="45720" cy="1078992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72768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66420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Regional Leader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02996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North America dominates with 49.2% of global game sales — nearly half the world market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55080" y="1572768"/>
            <a:ext cx="566928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572768"/>
            <a:ext cx="45720" cy="1078992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572768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0" y="166420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Platform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202996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PS2 is #1 platform with 1,255M units sold — led by its massive game library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2761488"/>
            <a:ext cx="566928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761488"/>
            <a:ext cx="45720" cy="1078992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61488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28529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Peak Year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21868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2009 was peak year globally at 684M sales — golden era of console gaming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55080" y="2761488"/>
            <a:ext cx="566928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2761488"/>
            <a:ext cx="45720" cy="1078992"/>
          </a:xfrm>
          <a:prstGeom prst="rect">
            <a:avLst/>
          </a:prstGeom>
          <a:solidFill>
            <a:srgbClr val="FD7C7C"/>
          </a:solidFill>
          <a:ln w="12700">
            <a:solidFill>
              <a:srgbClr val="FD7C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761488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28529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Publisher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321868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Nintendo leads all publishers with 1,786M units — 60% more than #2 EA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950208"/>
            <a:ext cx="566928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FDAA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950208"/>
            <a:ext cx="45720" cy="1078992"/>
          </a:xfrm>
          <a:prstGeom prst="rect">
            <a:avLst/>
          </a:prstGeom>
          <a:solidFill>
            <a:srgbClr val="FDAA7C"/>
          </a:solidFill>
          <a:ln w="12700">
            <a:solidFill>
              <a:srgbClr val="FDAA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50208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404164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Rating Distribution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440740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Most games rated 3.2–4.0. Below 3.0 rating rarely exceeds 1M in sales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55080" y="3950208"/>
            <a:ext cx="566928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FD7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55080" y="3950208"/>
            <a:ext cx="45720" cy="1078992"/>
          </a:xfrm>
          <a:prstGeom prst="rect">
            <a:avLst/>
          </a:prstGeom>
          <a:solidFill>
            <a:srgbClr val="FD7CF0"/>
          </a:solidFill>
          <a:ln w="12700">
            <a:solidFill>
              <a:srgbClr val="FD7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950208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32320" y="404164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Genre Champion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440740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Action genre leads sales (3,316M), while Adventure dominates engagement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5138928"/>
            <a:ext cx="566928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7CCF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" y="5138928"/>
            <a:ext cx="45720" cy="1078992"/>
          </a:xfrm>
          <a:prstGeom prst="rect">
            <a:avLst/>
          </a:prstGeom>
          <a:solidFill>
            <a:srgbClr val="7CCFFD"/>
          </a:solidFill>
          <a:ln w="12700">
            <a:solidFill>
              <a:srgbClr val="7CCF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138928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188720" y="523036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Engagement ≠ Sales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88720" y="559612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High engagement (plays/wishlist) doesn't always convert to high sales figures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55080" y="5138928"/>
            <a:ext cx="566928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55080" y="5138928"/>
            <a:ext cx="45720" cy="1078992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5138928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132320" y="523036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Decline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32320" y="559612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</a:rPr>
              <a:t>Post-2012 market fell sharply — rise of mobile &amp; free-to-play gaming disruption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611112"/>
            <a:ext cx="7315200" cy="228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AACC"/>
                </a:solidFill>
              </a:rPr>
              <a:t>🎮 Video Game Sales &amp; Engagement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11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CC"/>
                </a:solidFill>
              </a:rPr>
              <a:t>18 / 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</a:rPr>
              <a:t>CONCLUSION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 &amp; Project Summary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</a:rPr>
              <a:t>What we learned from 17,692 game records across 2 datasets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3749040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600200"/>
            <a:ext cx="3749040" cy="384048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600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0F1A"/>
                </a:solidFill>
              </a:rPr>
              <a:t>📊 Data Summary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084832"/>
            <a:ext cx="35661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139696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83FD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1,099 games analyzed from engagement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779776"/>
            <a:ext cx="356616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83464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83FD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16,593 sales records across 31 platforms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474720"/>
            <a:ext cx="35661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529584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83FD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469 games matched between both datasets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4169664"/>
            <a:ext cx="356616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4224528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83FD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19 genres · 577 publishers · 39 years of 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43400" y="1600200"/>
            <a:ext cx="3749040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7CFD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1600200"/>
            <a:ext cx="3749040" cy="384048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1600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0F1A"/>
                </a:solidFill>
              </a:rPr>
              <a:t>💡 Top Insights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2084832"/>
            <a:ext cx="35661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2139696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FDCB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North America leads global sales at 49.2%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2779776"/>
            <a:ext cx="356616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283464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FDCB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PS2 is #1 platform with 1,255M+ units sold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4840" y="3474720"/>
            <a:ext cx="35661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7992" y="3529584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FDCB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Nintendo dominates publishing with 1,786M units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34840" y="4169664"/>
            <a:ext cx="356616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7992" y="4224528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FDCB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2009 was the peak year at 684M global sales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75320" y="1600200"/>
            <a:ext cx="3749040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FDD9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75320" y="1600200"/>
            <a:ext cx="3749040" cy="384048"/>
          </a:xfrm>
          <a:prstGeom prst="rect">
            <a:avLst/>
          </a:prstGeom>
          <a:solidFill>
            <a:srgbClr val="FDD97C"/>
          </a:solidFill>
          <a:ln w="12700">
            <a:solidFill>
              <a:srgbClr val="FDD9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8472" y="1600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0F1A"/>
                </a:solidFill>
              </a:rPr>
              <a:t>🎯 What We Built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66760" y="2084832"/>
            <a:ext cx="35661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9912" y="2139696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D97C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Data Cleaning Notebook — 1,099 clean records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66760" y="2779776"/>
            <a:ext cx="356616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9912" y="283464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D97C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EDA Notebook — 15+ charts, 28 cells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366760" y="3474720"/>
            <a:ext cx="35661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39912" y="3529584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D97C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SQL Queries — 30 questions across 3 datasets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66760" y="4169664"/>
            <a:ext cx="356616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39912" y="4224528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D97C"/>
                </a:solidFill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Streamlit App — 7 pages, 30+ Plotly visuals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5120640"/>
            <a:ext cx="1133856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11480" y="5120640"/>
            <a:ext cx="45720" cy="1417320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1663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83FD"/>
                </a:solidFill>
              </a:rPr>
              <a:t>🔍  Final Conclusion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550468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FF"/>
                </a:solidFill>
              </a:rPr>
              <a:t>This project successfully demonstrates a complete end-to-end data analytics pipeline — from raw CSV cleaning to an interactive Streamlit dashboard. The analysis reveals that commercial success (sales) and player engagement (plays/wishlist) are NOT always correlated. Action games dominate global sales, but Adventure titles lead in engagement metrics like plays and backlogs. North America remains the largest market at 49.2%, and the industry peaked in 2009 before mobile gaming disruption. The Streamlit dashboard makes all 30+ insights fully interactive — launch with:  streamlit run app.py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88368" y="0"/>
            <a:ext cx="73152" cy="6858000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7CFDCB"/>
          </a:solidFill>
          <a:ln w="12700">
            <a:solidFill>
              <a:srgbClr val="7CFD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822960"/>
            <a:ext cx="9418320" cy="5212080"/>
          </a:xfrm>
          <a:prstGeom prst="rect">
            <a:avLst/>
          </a:prstGeom>
          <a:solidFill>
            <a:srgbClr val="1A1A2E"/>
          </a:solidFill>
          <a:ln w="12700">
            <a:solidFill>
              <a:srgbClr val="7C83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0" y="118872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🎮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371600" y="22128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83FD"/>
                </a:solidFill>
              </a:rPr>
              <a:t>Thank You!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71600" y="285292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Video Game Sales &amp; Engagement Analysis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33756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AAACC"/>
                </a:solidFill>
              </a:rPr>
              <a:t>Python  •  SQL  •  Streamlit  •  EDA  •  Machine Learning Ready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45920" y="3840480"/>
            <a:ext cx="169164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3840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FF"/>
                </a:solidFill>
              </a:rPr>
              <a:t>✅ data_cleaning.ipynb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474720" y="3840480"/>
            <a:ext cx="169164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840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FF"/>
                </a:solidFill>
              </a:rPr>
              <a:t>✅ eda_notebook.ipynb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303520" y="3840480"/>
            <a:ext cx="169164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840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FF"/>
                </a:solidFill>
              </a:rPr>
              <a:t>✅ app.py (Streamlit)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132320" y="3840480"/>
            <a:ext cx="169164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840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FF"/>
                </a:solidFill>
              </a:rPr>
              <a:t>✅ eda_analysis.sql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961120" y="3840480"/>
            <a:ext cx="169164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7C83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3840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FF"/>
                </a:solidFill>
              </a:rPr>
              <a:t>✅ eda_complete_questions.sql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371600" y="44805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D97C"/>
                </a:solidFill>
              </a:rPr>
              <a:t>Questions? Let's discuss!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Game Sales &amp; Engagement Analysis</dc:title>
  <dc:subject>PptxGenJS Presentation</dc:subject>
  <dc:creator>PptxGenJS</dc:creator>
  <cp:lastModifiedBy>PptxGenJS</cp:lastModifiedBy>
  <cp:revision>1</cp:revision>
  <dcterms:created xsi:type="dcterms:W3CDTF">2026-03-08T14:26:45Z</dcterms:created>
  <dcterms:modified xsi:type="dcterms:W3CDTF">2026-03-08T14:26:45Z</dcterms:modified>
</cp:coreProperties>
</file>